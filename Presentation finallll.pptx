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9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79A1C-A612-4C13-BAD0-C7CEE3032E43}" v="19" dt="2026-05-18T17:37:21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82" autoAdjust="0"/>
    <p:restoredTop sz="94687"/>
  </p:normalViewPr>
  <p:slideViewPr>
    <p:cSldViewPr snapToGrid="0">
      <p:cViewPr varScale="1">
        <p:scale>
          <a:sx n="116" d="100"/>
          <a:sy n="116" d="100"/>
        </p:scale>
        <p:origin x="19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CBD5E1"/>
                </a:solidFill>
                <a:latin typeface="Arial"/>
              </a:rPr>
              <a:t>US Drowsy Driving Fatalities (NHTSA)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795</c:v>
                </c:pt>
                <c:pt idx="1">
                  <c:v>750</c:v>
                </c:pt>
                <c:pt idx="2">
                  <c:v>697</c:v>
                </c:pt>
                <c:pt idx="3">
                  <c:v>633</c:v>
                </c:pt>
                <c:pt idx="4">
                  <c:v>684</c:v>
                </c:pt>
                <c:pt idx="5">
                  <c:v>693</c:v>
                </c:pt>
                <c:pt idx="6">
                  <c:v>633</c:v>
                </c:pt>
                <c:pt idx="7">
                  <c:v>644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39-41EF-B215-46F065875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94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dark-moody-nighttime-highway-scene-with-sleepy-dro_2026-05-15T14-46-05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39" y="6439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 SLEEP 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Drowsiness Detection &amp; Automatic Braking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Driving: A Silent Killer on Roads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8288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1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1.19M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Worldwide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8288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2194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Crashes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Drowsy Drivers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18288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6,400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Deaths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Driving (US)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371600"/>
            <a:ext cx="18288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7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0" y="2194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Police-Reported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Crashes/Year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200400"/>
          <a:ext cx="50292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943600" y="32004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</a:rPr>
              <a:t>Key Facts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20 hrs without sleep = 0.08% BAC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1 in 25 adults fell asleep driving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Ages 18-25: 2.4x more likely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$109B annual cost (NHTSA)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Peak risk: midnight to 6 AM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475488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NHTSA, AAA Foundation, WHO Global Road Safety Report 2023, CDC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200" dirty="0"/>
          </a:p>
        </p:txBody>
      </p:sp>
      <p:pic>
        <p:nvPicPr>
          <p:cNvPr id="3" name="Image 0" descr="/agent/turn1/workspace/images/futuristic-road-safety-technology-concept-dark-bac_2026-05-15T14-46-12_image_DAS_0.jpg"/>
          <p:cNvPicPr>
            <a:picLocks noChangeAspect="1"/>
          </p:cNvPicPr>
          <p:nvPr/>
        </p:nvPicPr>
        <p:blipFill>
          <a:blip r:embed="rId3"/>
          <a:srcRect l="10000" r="10000"/>
          <a:stretch/>
        </p:blipFill>
        <p:spPr>
          <a:xfrm>
            <a:off x="548640" y="1097280"/>
            <a:ext cx="384048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373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352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detects eye closure (drowsiness signal)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51460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0352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Vibrator trigger alert to wake the driver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9184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03520" y="3291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cuts motor power, stopping the wheel (braking)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06908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303520" y="4069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processes all signals in real-time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Prevent accidents caused by drowsy driving through real-time detection and automated response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4340" y="1188720"/>
            <a:ext cx="182880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434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343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22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monitors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state continuously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1428" y="201168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E5FF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83180" y="1188720"/>
            <a:ext cx="182880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318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97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831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6606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reads sensor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evaluates 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0268" y="201168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E5FF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32020" y="1188720"/>
            <a:ext cx="182880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3202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320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490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sounds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vibrator activates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79108" y="201168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E5FF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880860" y="1188720"/>
            <a:ext cx="182880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8086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1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808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BRAKE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6374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cuts power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motor/wheel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3474720" cy="1005840"/>
          </a:xfrm>
          <a:prstGeom prst="rect">
            <a:avLst/>
          </a:prstGeom>
          <a:solidFill>
            <a:srgbClr val="0B3D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EYES OPEN → SAFE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runs normally, alerts off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3474720" cy="1005840"/>
          </a:xfrm>
          <a:prstGeom prst="rect">
            <a:avLst/>
          </a:prstGeom>
          <a:solidFill>
            <a:srgbClr val="3D0B0B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1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EYES CLOSED → DANGER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stops, buzzer + vibrator activate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Core Electronics</a:t>
            </a:r>
            <a:endParaRPr lang="en-US" sz="1300" dirty="0"/>
          </a:p>
        </p:txBody>
      </p:sp>
      <p:pic>
        <p:nvPicPr>
          <p:cNvPr id="4" name="Image 0" descr="/agent/turn1/workspace/images/arduino-uno-microcontroller-board-on-dark-matte-bl_2026-05-15T14-46-05_image_DAS_0.jpg"/>
          <p:cNvPicPr>
            <a:picLocks noChangeAspect="1"/>
          </p:cNvPicPr>
          <p:nvPr/>
        </p:nvPicPr>
        <p:blipFill>
          <a:blip r:embed="rId3"/>
          <a:srcRect l="16667" r="16667"/>
          <a:stretch/>
        </p:blipFill>
        <p:spPr>
          <a:xfrm>
            <a:off x="548640" y="1280160"/>
            <a:ext cx="34747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89120" y="1280160"/>
            <a:ext cx="438912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2628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Arduino UNO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26280" y="1581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microcontroller — reads sensor data, controls relay and alert systems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89120" y="1993392"/>
            <a:ext cx="438912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26280" y="2039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 Obstacle Sensor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26280" y="2295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eye closure by sensing proximity changes via infrared light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120" y="2706624"/>
            <a:ext cx="438912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26280" y="2752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Buzzer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26280" y="3008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loud alarm sound when drowsiness is detected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0" y="3419856"/>
            <a:ext cx="438912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26280" y="3465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Vibrator Motor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3721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physical vibration alert to wake the driver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89120" y="4133088"/>
            <a:ext cx="438912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26280" y="4178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Breadboard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platform for connecting components without soldering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Power &amp; Drive</a:t>
            </a:r>
            <a:endParaRPr lang="en-US" sz="1300" dirty="0"/>
          </a:p>
        </p:txBody>
      </p:sp>
      <p:pic>
        <p:nvPicPr>
          <p:cNvPr id="4" name="Image 0" descr="/agent/turn1/workspace/images/close-up-of-a-car-wheel-and-dc-motor-braking-syste_2026-05-15T14-46-11_image_DAS_0.jpg"/>
          <p:cNvPicPr>
            <a:picLocks noChangeAspect="1"/>
          </p:cNvPicPr>
          <p:nvPr/>
        </p:nvPicPr>
        <p:blipFill>
          <a:blip r:embed="rId3"/>
          <a:srcRect l="13158" r="13158"/>
          <a:stretch/>
        </p:blipFill>
        <p:spPr>
          <a:xfrm>
            <a:off x="4937760" y="1280160"/>
            <a:ext cx="38404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80160"/>
            <a:ext cx="402336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1-Channel Relay Module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581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motor power on/off based on Arduino signal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993392"/>
            <a:ext cx="402336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Lithium-Ion Battery (18650)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295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Rechargeable power source providing stable 3.7V output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2706624"/>
            <a:ext cx="402336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752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Battery Holder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008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the 18650 battery and connects to the circuit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3419856"/>
            <a:ext cx="402336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3465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 Gear Motor &amp; Wheel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" y="3721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vehicle wheel — stops when relay cuts power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" y="4133088"/>
            <a:ext cx="402336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Jumper Cables (F/F, M/F, M/M)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 connectors for wiring components together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 DESIGN</a:t>
            </a:r>
            <a:endParaRPr lang="en-US" sz="3200" dirty="0"/>
          </a:p>
        </p:txBody>
      </p:sp>
      <p:pic>
        <p:nvPicPr>
          <p:cNvPr id="3" name="Image 0" descr="/agent/turn1/workspace/images/technical-flat-illustration-of-a-drowsiness-detect_2026-05-15T14-46-06_image_DAS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18180"/>
            <a:ext cx="5303520" cy="381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Connections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17920" y="1508760"/>
            <a:ext cx="548640" cy="32004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1792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90372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(Signal)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1965960"/>
            <a:ext cx="548640" cy="32004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0" y="1965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037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 (IN)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423160"/>
            <a:ext cx="548640" cy="32004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17920" y="2423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D8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0372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Vibrator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2880360"/>
            <a:ext cx="548640" cy="32004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0372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VCC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3337560"/>
            <a:ext cx="548640" cy="32004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17920" y="3337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037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Ground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1792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Supply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17920" y="4251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18650 Li-Ion Battery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Battery Holder to Relay → Motor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&amp; CODE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— C/C++ Language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475488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371600"/>
            <a:ext cx="4389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irSensor = 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relayPin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alertSystem = 8;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pinMode(irSensor, INPUT);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pinMode(relayPin, OUTPUT);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pinMode(alertSystem, OUTPUT);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digitalWrite(relayPin, HIGH);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digitalWrite(alertSystem, LOW);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sensorValue = digitalRead(irSensor);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(sensorValue == LOW)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digitalWrite(relayPin, LOW);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digitalWrite(alertSystem, HIGH);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digitalWrite(relayPin, HIGH);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digitalWrite(alertSystem, LOW);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Logic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0" y="1828800"/>
            <a:ext cx="228600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0" y="1828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35040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Setup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on D2, relay on D5, buzzer+vibrator on D8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2468880"/>
            <a:ext cx="228600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69280" y="2468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35040" y="2450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 State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runs (relay HIGH), alerts off (LOW)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3108960"/>
            <a:ext cx="228600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69280" y="3108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35040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Eye Closed Detected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reads LOW → stop motor + activate alerts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69280" y="3749040"/>
            <a:ext cx="228600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9280" y="3749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35040" y="3730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Eye Open Detected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3504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reads HIGH → resume motor + deactivate alerts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69280" y="4389120"/>
            <a:ext cx="228600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669280" y="4389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035040" y="4370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Loop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35040" y="4590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with instant response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</a:rPr>
              <a:t>ADVANTAGES &amp; FEATURES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E5FF"/>
                </a:solidFill>
                <a:latin typeface="Calibri" pitchFamily="34" charset="0"/>
              </a:rPr>
              <a:t>Why This System Stands Out</a:t>
            </a:r>
          </a:p>
        </p:txBody>
      </p:sp>
      <p:sp>
        <p:nvSpPr>
          <p:cNvPr id="10" name="Card1Bg"/>
          <p:cNvSpPr/>
          <p:nvPr/>
        </p:nvSpPr>
        <p:spPr>
          <a:xfrm>
            <a:off x="548640" y="1280160"/>
            <a:ext cx="3840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1Title"/>
          <p:cNvSpPr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E5FF"/>
                </a:solidFill>
                <a:latin typeface="Trebuchet MS" pitchFamily="34" charset="0"/>
              </a:rPr>
              <a:t>Real-Time Monitoring</a:t>
            </a:r>
          </a:p>
        </p:txBody>
      </p:sp>
      <p:sp>
        <p:nvSpPr>
          <p:cNvPr id="12" name="Card1Desc"/>
          <p:cNvSpPr/>
          <p:nvPr/>
        </p:nvSpPr>
        <p:spPr>
          <a:xfrm>
            <a:off x="6858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</a:rPr>
              <a:t>Continuously tracks driver eye state using IR sensor with instant response to drowsiness detection</a:t>
            </a:r>
          </a:p>
        </p:txBody>
      </p:sp>
      <p:sp>
        <p:nvSpPr>
          <p:cNvPr id="20" name="Card2Bg"/>
          <p:cNvSpPr/>
          <p:nvPr/>
        </p:nvSpPr>
        <p:spPr>
          <a:xfrm>
            <a:off x="4754880" y="1280160"/>
            <a:ext cx="3840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88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2Title"/>
          <p:cNvSpPr/>
          <p:nvPr/>
        </p:nvSpPr>
        <p:spPr>
          <a:xfrm>
            <a:off x="489192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88E5"/>
                </a:solidFill>
                <a:latin typeface="Trebuchet MS" pitchFamily="34" charset="0"/>
              </a:rPr>
              <a:t>Automatic Alert System</a:t>
            </a:r>
          </a:p>
        </p:txBody>
      </p:sp>
      <p:sp>
        <p:nvSpPr>
          <p:cNvPr id="22" name="Card2Desc"/>
          <p:cNvSpPr/>
          <p:nvPr/>
        </p:nvSpPr>
        <p:spPr>
          <a:xfrm>
            <a:off x="48919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</a:rPr>
              <a:t>Dual alert via buzzer sound and vibration motor ensures the driver is woken up through multiple senses</a:t>
            </a:r>
          </a:p>
        </p:txBody>
      </p:sp>
      <p:sp>
        <p:nvSpPr>
          <p:cNvPr id="30" name="Card3Bg"/>
          <p:cNvSpPr/>
          <p:nvPr/>
        </p:nvSpPr>
        <p:spPr>
          <a:xfrm>
            <a:off x="548640" y="2286000"/>
            <a:ext cx="3840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97A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3Title"/>
          <p:cNvSpPr/>
          <p:nvPr/>
        </p:nvSpPr>
        <p:spPr>
          <a:xfrm>
            <a:off x="68580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97A7"/>
                </a:solidFill>
                <a:latin typeface="Trebuchet MS" pitchFamily="34" charset="0"/>
              </a:rPr>
              <a:t>Low Cost Solution</a:t>
            </a:r>
          </a:p>
        </p:txBody>
      </p:sp>
      <p:sp>
        <p:nvSpPr>
          <p:cNvPr id="32" name="Card3Desc"/>
          <p:cNvSpPr/>
          <p:nvPr/>
        </p:nvSpPr>
        <p:spPr>
          <a:xfrm>
            <a:off x="68580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</a:rPr>
              <a:t>Built with affordable components like Arduino UNO, IR sensor, and basic electronics - accessible for widespread adoption</a:t>
            </a:r>
          </a:p>
        </p:txBody>
      </p:sp>
      <p:sp>
        <p:nvSpPr>
          <p:cNvPr id="40" name="Card4Bg"/>
          <p:cNvSpPr/>
          <p:nvPr/>
        </p:nvSpPr>
        <p:spPr>
          <a:xfrm>
            <a:off x="4754880" y="2286000"/>
            <a:ext cx="3840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Card4Title"/>
          <p:cNvSpPr/>
          <p:nvPr/>
        </p:nvSpPr>
        <p:spPr>
          <a:xfrm>
            <a:off x="489192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E5FF"/>
                </a:solidFill>
                <a:latin typeface="Trebuchet MS" pitchFamily="34" charset="0"/>
              </a:rPr>
              <a:t>Easy to Implement</a:t>
            </a:r>
          </a:p>
        </p:txBody>
      </p:sp>
      <p:sp>
        <p:nvSpPr>
          <p:cNvPr id="42" name="Card4Desc"/>
          <p:cNvSpPr/>
          <p:nvPr/>
        </p:nvSpPr>
        <p:spPr>
          <a:xfrm>
            <a:off x="489192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</a:rPr>
              <a:t>Simple circuit design and straightforward Arduino code make this project reproducible and easy to scale</a:t>
            </a:r>
          </a:p>
        </p:txBody>
      </p:sp>
      <p:sp>
        <p:nvSpPr>
          <p:cNvPr id="50" name="Card5Bg"/>
          <p:cNvSpPr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17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Card5Title"/>
          <p:cNvSpPr/>
          <p:nvPr/>
        </p:nvSpPr>
        <p:spPr>
          <a:xfrm>
            <a:off x="68580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1744"/>
                </a:solidFill>
                <a:latin typeface="Trebuchet MS" pitchFamily="34" charset="0"/>
              </a:rPr>
              <a:t>Improves Driver Safety</a:t>
            </a:r>
          </a:p>
        </p:txBody>
      </p:sp>
      <p:sp>
        <p:nvSpPr>
          <p:cNvPr id="52" name="Card5Desc"/>
          <p:cNvSpPr/>
          <p:nvPr/>
        </p:nvSpPr>
        <p:spPr>
          <a:xfrm>
            <a:off x="68580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</a:rPr>
              <a:t>Actively prevents drowsy driving accidents by combining detection, alert, and automatic braking — addressing one of the leading causes of road fatalities worldwide</a:t>
            </a:r>
          </a:p>
        </p:txBody>
      </p:sp>
      <p:sp>
        <p:nvSpPr>
          <p:cNvPr id="60" name="BottomBar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0097A7"/>
                </a:solidFill>
                <a:latin typeface="Calibri" pitchFamily="34" charset="0"/>
              </a:rPr>
              <a:t>A practical, affordable solution that can save lives on the road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</a:rPr>
              <a:t>CHALLENGES FACED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E5FF"/>
                </a:solidFill>
                <a:latin typeface="Calibri" pitchFamily="34" charset="0"/>
              </a:rPr>
              <a:t>Problems We Encountered During Development</a:t>
            </a:r>
          </a:p>
        </p:txBody>
      </p:sp>
      <p:sp>
        <p:nvSpPr>
          <p:cNvPr id="10" name="Ch1Bg"/>
          <p:cNvSpPr/>
          <p:nvPr/>
        </p:nvSpPr>
        <p:spPr>
          <a:xfrm>
            <a:off x="548640" y="1280160"/>
            <a:ext cx="3840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17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h1Num"/>
          <p:cNvSpPr/>
          <p:nvPr/>
        </p:nvSpPr>
        <p:spPr>
          <a:xfrm>
            <a:off x="68580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FF1744"/>
                </a:solidFill>
                <a:latin typeface="Trebuchet MS" pitchFamily="34" charset="0"/>
              </a:rPr>
              <a:t>01</a:t>
            </a:r>
          </a:p>
        </p:txBody>
      </p:sp>
      <p:sp>
        <p:nvSpPr>
          <p:cNvPr id="12" name="Ch1Title"/>
          <p:cNvSpPr/>
          <p:nvPr/>
        </p:nvSpPr>
        <p:spPr>
          <a:xfrm>
            <a:off x="128016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</a:rPr>
              <a:t>Sensor Calibration</a:t>
            </a:r>
          </a:p>
        </p:txBody>
      </p:sp>
      <p:sp>
        <p:nvSpPr>
          <p:cNvPr id="13" name="Ch1Desc"/>
          <p:cNvSpPr/>
          <p:nvPr/>
        </p:nvSpPr>
        <p:spPr>
          <a:xfrm>
            <a:off x="68580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</a:rPr>
              <a:t>The IR sensor required precise distance calibration to accurately detect eye closure without triggering false alarms from ambient light or head movements.</a:t>
            </a:r>
          </a:p>
        </p:txBody>
      </p:sp>
      <p:sp>
        <p:nvSpPr>
          <p:cNvPr id="20" name="Ch2Bg"/>
          <p:cNvSpPr/>
          <p:nvPr/>
        </p:nvSpPr>
        <p:spPr>
          <a:xfrm>
            <a:off x="4754880" y="1280160"/>
            <a:ext cx="3840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h2Num"/>
          <p:cNvSpPr/>
          <p:nvPr/>
        </p:nvSpPr>
        <p:spPr>
          <a:xfrm>
            <a:off x="489192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00E5FF"/>
                </a:solidFill>
                <a:latin typeface="Trebuchet MS" pitchFamily="34" charset="0"/>
              </a:rPr>
              <a:t>02</a:t>
            </a:r>
          </a:p>
        </p:txBody>
      </p:sp>
      <p:sp>
        <p:nvSpPr>
          <p:cNvPr id="22" name="Ch2Title"/>
          <p:cNvSpPr/>
          <p:nvPr/>
        </p:nvSpPr>
        <p:spPr>
          <a:xfrm>
            <a:off x="548640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</a:rPr>
              <a:t>False Detection</a:t>
            </a:r>
          </a:p>
        </p:txBody>
      </p:sp>
      <p:sp>
        <p:nvSpPr>
          <p:cNvPr id="23" name="Ch2Desc"/>
          <p:cNvSpPr/>
          <p:nvPr/>
        </p:nvSpPr>
        <p:spPr>
          <a:xfrm>
            <a:off x="489192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</a:rPr>
              <a:t>Blinking or looking down sometimes triggered false positives. We adjusted sensor sensitivity and positioning to minimize incorrect alerts.</a:t>
            </a:r>
          </a:p>
        </p:txBody>
      </p:sp>
      <p:sp>
        <p:nvSpPr>
          <p:cNvPr id="30" name="Ch3Bg"/>
          <p:cNvSpPr/>
          <p:nvPr/>
        </p:nvSpPr>
        <p:spPr>
          <a:xfrm>
            <a:off x="548640" y="2834640"/>
            <a:ext cx="3840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88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h3Num"/>
          <p:cNvSpPr/>
          <p:nvPr/>
        </p:nvSpPr>
        <p:spPr>
          <a:xfrm>
            <a:off x="68580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E88E5"/>
                </a:solidFill>
                <a:latin typeface="Trebuchet MS" pitchFamily="34" charset="0"/>
              </a:rPr>
              <a:t>03</a:t>
            </a:r>
          </a:p>
        </p:txBody>
      </p:sp>
      <p:sp>
        <p:nvSpPr>
          <p:cNvPr id="32" name="Ch3Title"/>
          <p:cNvSpPr/>
          <p:nvPr/>
        </p:nvSpPr>
        <p:spPr>
          <a:xfrm>
            <a:off x="128016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</a:rPr>
              <a:t>Relay Response Delay</a:t>
            </a:r>
          </a:p>
        </p:txBody>
      </p:sp>
      <p:sp>
        <p:nvSpPr>
          <p:cNvPr id="33" name="Ch3Desc"/>
          <p:cNvSpPr/>
          <p:nvPr/>
        </p:nvSpPr>
        <p:spPr>
          <a:xfrm>
            <a:off x="685800" y="3383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</a:rPr>
              <a:t>The relay module had a slight switching delay when cutting motor power. We optimized the code to trigger the relay as the first action for faster response.</a:t>
            </a:r>
          </a:p>
        </p:txBody>
      </p:sp>
      <p:sp>
        <p:nvSpPr>
          <p:cNvPr id="40" name="Ch4Bg"/>
          <p:cNvSpPr/>
          <p:nvPr/>
        </p:nvSpPr>
        <p:spPr>
          <a:xfrm>
            <a:off x="4754880" y="2834640"/>
            <a:ext cx="3840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97A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Ch4Num"/>
          <p:cNvSpPr/>
          <p:nvPr/>
        </p:nvSpPr>
        <p:spPr>
          <a:xfrm>
            <a:off x="489192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0097A7"/>
                </a:solidFill>
                <a:latin typeface="Trebuchet MS" pitchFamily="34" charset="0"/>
              </a:rPr>
              <a:t>04</a:t>
            </a:r>
          </a:p>
        </p:txBody>
      </p:sp>
      <p:sp>
        <p:nvSpPr>
          <p:cNvPr id="42" name="Ch4Title"/>
          <p:cNvSpPr/>
          <p:nvPr/>
        </p:nvSpPr>
        <p:spPr>
          <a:xfrm>
            <a:off x="548640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</a:rPr>
              <a:t>Power Stability</a:t>
            </a:r>
          </a:p>
        </p:txBody>
      </p:sp>
      <p:sp>
        <p:nvSpPr>
          <p:cNvPr id="43" name="Ch4Desc"/>
          <p:cNvSpPr/>
          <p:nvPr/>
        </p:nvSpPr>
        <p:spPr>
          <a:xfrm>
            <a:off x="4891920" y="3383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</a:rPr>
              <a:t>The 18650 battery voltage fluctuated under load when the motor and buzzer ran simultaneously. We ensured proper grounding and considered adding a voltage regulator.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</a:rPr>
              <a:t>FUTURE IMPROVEMENTS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E5FF"/>
                </a:solidFill>
                <a:latin typeface="Calibri" pitchFamily="34" charset="0"/>
              </a:rPr>
              <a:t>Next Steps to Evolve This Project</a:t>
            </a:r>
          </a:p>
        </p:txBody>
      </p:sp>
      <p:sp>
        <p:nvSpPr>
          <p:cNvPr id="10" name="F1Bg"/>
          <p:cNvSpPr/>
          <p:nvPr/>
        </p:nvSpPr>
        <p:spPr>
          <a:xfrm>
            <a:off x="548640" y="1280160"/>
            <a:ext cx="256032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F1Title"/>
          <p:cNvSpPr/>
          <p:nvPr/>
        </p:nvSpPr>
        <p:spPr>
          <a:xfrm>
            <a:off x="685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E5FF"/>
                </a:solidFill>
                <a:latin typeface="Trebuchet MS" pitchFamily="34" charset="0"/>
              </a:rPr>
              <a:t>Camera-Based Detection</a:t>
            </a:r>
          </a:p>
        </p:txBody>
      </p:sp>
      <p:sp>
        <p:nvSpPr>
          <p:cNvPr id="12" name="F1Desc"/>
          <p:cNvSpPr/>
          <p:nvPr/>
        </p:nvSpPr>
        <p:spPr>
          <a:xfrm>
            <a:off x="68580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</a:rPr>
              <a:t>Replace IR sensor with a camera module for more accurate facial recognition and eye-tracking capabilities</a:t>
            </a:r>
          </a:p>
        </p:txBody>
      </p:sp>
      <p:sp>
        <p:nvSpPr>
          <p:cNvPr id="20" name="F2Bg"/>
          <p:cNvSpPr/>
          <p:nvPr/>
        </p:nvSpPr>
        <p:spPr>
          <a:xfrm>
            <a:off x="3291840" y="1280160"/>
            <a:ext cx="256032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88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F2Title"/>
          <p:cNvSpPr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88E5"/>
                </a:solidFill>
                <a:latin typeface="Trebuchet MS" pitchFamily="34" charset="0"/>
              </a:rPr>
              <a:t>AI Eye Tracking</a:t>
            </a:r>
          </a:p>
        </p:txBody>
      </p:sp>
      <p:sp>
        <p:nvSpPr>
          <p:cNvPr id="22" name="F2Desc"/>
          <p:cNvSpPr/>
          <p:nvPr/>
        </p:nvSpPr>
        <p:spPr>
          <a:xfrm>
            <a:off x="342900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</a:rPr>
              <a:t>Integrate machine learning models to detect drowsiness patterns, yawning, and head-nodding with higher accuracy</a:t>
            </a:r>
          </a:p>
        </p:txBody>
      </p:sp>
      <p:sp>
        <p:nvSpPr>
          <p:cNvPr id="30" name="F3Bg"/>
          <p:cNvSpPr/>
          <p:nvPr/>
        </p:nvSpPr>
        <p:spPr>
          <a:xfrm>
            <a:off x="6035040" y="1280160"/>
            <a:ext cx="256032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17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F3Title"/>
          <p:cNvSpPr/>
          <p:nvPr/>
        </p:nvSpPr>
        <p:spPr>
          <a:xfrm>
            <a:off x="61722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1744"/>
                </a:solidFill>
                <a:latin typeface="Trebuchet MS" pitchFamily="34" charset="0"/>
              </a:rPr>
              <a:t>GSM Emergency Alert</a:t>
            </a:r>
          </a:p>
        </p:txBody>
      </p:sp>
      <p:sp>
        <p:nvSpPr>
          <p:cNvPr id="32" name="F3Desc"/>
          <p:cNvSpPr/>
          <p:nvPr/>
        </p:nvSpPr>
        <p:spPr>
          <a:xfrm>
            <a:off x="617220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</a:rPr>
              <a:t>Add GSM module to automatically send SMS alerts with location to emergency contacts when drowsiness is detected</a:t>
            </a:r>
          </a:p>
        </p:txBody>
      </p:sp>
      <p:sp>
        <p:nvSpPr>
          <p:cNvPr id="40" name="F4Bg"/>
          <p:cNvSpPr/>
          <p:nvPr/>
        </p:nvSpPr>
        <p:spPr>
          <a:xfrm>
            <a:off x="548640" y="3017520"/>
            <a:ext cx="384048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97A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F4Title"/>
          <p:cNvSpPr/>
          <p:nvPr/>
        </p:nvSpPr>
        <p:spPr>
          <a:xfrm>
            <a:off x="68580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97A7"/>
                </a:solidFill>
                <a:latin typeface="Trebuchet MS" pitchFamily="34" charset="0"/>
              </a:rPr>
              <a:t>Mobile App Integration</a:t>
            </a:r>
          </a:p>
        </p:txBody>
      </p:sp>
      <p:sp>
        <p:nvSpPr>
          <p:cNvPr id="42" name="F4Desc"/>
          <p:cNvSpPr/>
          <p:nvPr/>
        </p:nvSpPr>
        <p:spPr>
          <a:xfrm>
            <a:off x="68580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</a:rPr>
              <a:t>Develop a companion smartphone app via Bluetooth to monitor driving sessions, track drowsiness events, and provide driver fatigue analytics</a:t>
            </a:r>
          </a:p>
        </p:txBody>
      </p:sp>
      <p:sp>
        <p:nvSpPr>
          <p:cNvPr id="50" name="F5Bg"/>
          <p:cNvSpPr/>
          <p:nvPr/>
        </p:nvSpPr>
        <p:spPr>
          <a:xfrm>
            <a:off x="4754880" y="3017520"/>
            <a:ext cx="384048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5Title"/>
          <p:cNvSpPr/>
          <p:nvPr/>
        </p:nvSpPr>
        <p:spPr>
          <a:xfrm>
            <a:off x="489192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E5FF"/>
                </a:solidFill>
                <a:latin typeface="Trebuchet MS" pitchFamily="34" charset="0"/>
              </a:rPr>
              <a:t>GPS Location Tracking</a:t>
            </a:r>
          </a:p>
        </p:txBody>
      </p:sp>
      <p:sp>
        <p:nvSpPr>
          <p:cNvPr id="52" name="F5Desc"/>
          <p:cNvSpPr/>
          <p:nvPr/>
        </p:nvSpPr>
        <p:spPr>
          <a:xfrm>
            <a:off x="489192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</a:rPr>
              <a:t>Integrate GPS module to log the exact location of drowsiness incidents and share real-time coordinates with emergency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Subtitle"/>
          <p:cNvSpPr/>
          <p:nvPr/>
        </p:nvSpPr>
        <p:spPr>
          <a:xfrm>
            <a:off x="402336" y="2377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Sleep System in Action</a:t>
            </a:r>
            <a:endParaRPr lang="en-US" sz="1400" dirty="0"/>
          </a:p>
        </p:txBody>
      </p:sp>
      <p:sp>
        <p:nvSpPr>
          <p:cNvPr id="22" name="Video Frame Background"/>
          <p:cNvSpPr/>
          <p:nvPr/>
        </p:nvSpPr>
        <p:spPr>
          <a:xfrm>
            <a:off x="2971798" y="682752"/>
            <a:ext cx="3200400" cy="3566160"/>
          </a:xfrm>
          <a:prstGeom prst="roundRect">
            <a:avLst>
              <a:gd name="adj" fmla="val 5000"/>
            </a:avLst>
          </a:prstGeom>
          <a:solidFill>
            <a:srgbClr val="131929"/>
          </a:solidFill>
          <a:ln w="19050">
            <a:solidFill>
              <a:srgbClr val="00E5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Bottom Bar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0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futuristic-road-safety-technology-concept-dark-bac_2026-05-15T14-46-12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Sleep System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0" y="3017520"/>
            <a:ext cx="1828800" cy="27432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291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99</TotalTime>
  <Words>966</Words>
  <Application>Microsoft Macintosh PowerPoint</Application>
  <PresentationFormat>On-screen Show (16:9)</PresentationFormat>
  <Paragraphs>188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Ahamd Qudah</dc:creator>
  <cp:lastModifiedBy>Kareem Alnsour</cp:lastModifiedBy>
  <cp:revision>3</cp:revision>
  <dcterms:created xsi:type="dcterms:W3CDTF">2026-05-15T14:50:21Z</dcterms:created>
  <dcterms:modified xsi:type="dcterms:W3CDTF">2026-05-20T09:50:51Z</dcterms:modified>
</cp:coreProperties>
</file>